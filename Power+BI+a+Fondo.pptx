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9" r:id="rId3"/>
    <p:sldId id="258" r:id="rId4"/>
    <p:sldId id="267" r:id="rId5"/>
    <p:sldId id="260" r:id="rId6"/>
    <p:sldId id="261" r:id="rId7"/>
    <p:sldId id="257" r:id="rId8"/>
    <p:sldId id="262" r:id="rId9"/>
    <p:sldId id="263" r:id="rId10"/>
    <p:sldId id="264" r:id="rId11"/>
    <p:sldId id="265" r:id="rId12"/>
    <p:sldId id="266" r:id="rId1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C729"/>
    <a:srgbClr val="FFC91D"/>
    <a:srgbClr val="FFDC6D"/>
    <a:srgbClr val="FFCD2F"/>
    <a:srgbClr val="FFC305"/>
    <a:srgbClr val="FFD03B"/>
    <a:srgbClr val="FFDA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107" autoAdjust="0"/>
  </p:normalViewPr>
  <p:slideViewPr>
    <p:cSldViewPr snapToGrid="0">
      <p:cViewPr varScale="1">
        <p:scale>
          <a:sx n="68" d="100"/>
          <a:sy n="68" d="100"/>
        </p:scale>
        <p:origin x="1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49809-73B3-4773-9369-3720CE86741D}" type="datetimeFigureOut">
              <a:rPr lang="es-ES" smtClean="0"/>
              <a:t>07/02/2019</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E14EFD-6E92-480F-AAD2-F7AE211DC17F}" type="slidenum">
              <a:rPr lang="es-ES" smtClean="0"/>
              <a:t>‹Nº›</a:t>
            </a:fld>
            <a:endParaRPr lang="es-ES"/>
          </a:p>
        </p:txBody>
      </p:sp>
    </p:spTree>
    <p:extLst>
      <p:ext uri="{BB962C8B-B14F-4D97-AF65-F5344CB8AC3E}">
        <p14:creationId xmlns:p14="http://schemas.microsoft.com/office/powerpoint/2010/main" val="131297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EE14EFD-6E92-480F-AAD2-F7AE211DC17F}" type="slidenum">
              <a:rPr lang="es-ES" smtClean="0"/>
              <a:t>4</a:t>
            </a:fld>
            <a:endParaRPr lang="es-ES"/>
          </a:p>
        </p:txBody>
      </p:sp>
    </p:spTree>
    <p:extLst>
      <p:ext uri="{BB962C8B-B14F-4D97-AF65-F5344CB8AC3E}">
        <p14:creationId xmlns:p14="http://schemas.microsoft.com/office/powerpoint/2010/main" val="346558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9985A0-21B2-4B21-8881-3C47BF2925A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9897E94-EE66-4C11-B3E7-7D4576120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1873219-9EEE-42BF-8D2B-7EFAE0E944FA}"/>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927F202F-8E6E-4738-85CB-B5941397DF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EB2DE1-0074-43A4-BB2E-6384F892A42F}"/>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325354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BBCCF7-C4BB-498D-B0BC-3EBB79F59E5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914BD21-94F1-4518-82D5-3BECAADDE0BC}"/>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7145ABF-CFB1-4303-AC63-9F4C23704F4E}"/>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5D3AC126-95F2-4805-980D-6FB6C6DBDEE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BF3DECF-5EF8-4E84-8126-BD2EACCE36CD}"/>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2319944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6EA8E8-0F25-4D4F-AEDD-D1E49BB259D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8AC508-6364-4D95-BC8F-BDBC497D83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E3C72D0B-F853-4FA4-B57B-6D5A370AA35C}"/>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60D991C1-DAF1-40BF-AFF9-4BED9366529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E9CAE56-BF06-4C6D-BBAA-24005F57CE22}"/>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207290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0AA47F-17B5-48C1-ADC6-8E21B335C3D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4FF46CF-2F7E-4F4F-A749-68112470E91B}"/>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EED9279-0C54-4905-A99B-81949469902F}"/>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845C670-FB62-4EB9-9C09-E45170A275CD}"/>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6" name="Marcador de pie de página 5">
            <a:extLst>
              <a:ext uri="{FF2B5EF4-FFF2-40B4-BE49-F238E27FC236}">
                <a16:creationId xmlns:a16="http://schemas.microsoft.com/office/drawing/2014/main" id="{49ACE619-AFF0-4D69-B4B4-8628F5DD5C7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5E4B630-9022-4E1A-ACD0-C3B51492C96A}"/>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1466245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9E483-5AC5-4219-8490-59B95C0F051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3C81D34-B2C9-4D72-A62B-39B521750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85DB9080-1639-436E-8644-381DF7970E0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15CA940-5858-45E9-8F7A-653630FC4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20C707B7-F1C8-4B64-AC72-8A44B36B7456}"/>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B7853AB7-3DDD-4D57-851C-B3C7CF3D8E13}"/>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8" name="Marcador de pie de página 7">
            <a:extLst>
              <a:ext uri="{FF2B5EF4-FFF2-40B4-BE49-F238E27FC236}">
                <a16:creationId xmlns:a16="http://schemas.microsoft.com/office/drawing/2014/main" id="{17879277-0CE2-4CAC-A275-A2CC77F00F2B}"/>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D111AB8-DC91-457C-9E68-85D455C99F40}"/>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1000882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7E6605-2485-47BC-93BB-80A84BF50BC5}"/>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6A56538D-4B58-4FEB-999B-20F43F47A36A}"/>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4" name="Marcador de pie de página 3">
            <a:extLst>
              <a:ext uri="{FF2B5EF4-FFF2-40B4-BE49-F238E27FC236}">
                <a16:creationId xmlns:a16="http://schemas.microsoft.com/office/drawing/2014/main" id="{49B4A8A4-BCF7-4229-92ED-A43E7C1A0E3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A4A7081-9143-486D-AA14-8C46DF44F6A6}"/>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292179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B6188E5-0896-4315-A5AB-2ED6B3A5D74C}"/>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3" name="Marcador de pie de página 2">
            <a:extLst>
              <a:ext uri="{FF2B5EF4-FFF2-40B4-BE49-F238E27FC236}">
                <a16:creationId xmlns:a16="http://schemas.microsoft.com/office/drawing/2014/main" id="{8972AC5A-14D7-4117-AC39-A565E7551926}"/>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08EF70FC-BB37-434F-99F7-69E565DA5368}"/>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1907983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0056-ADBE-4D14-BB2F-85287443640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EEF2DE5-381C-41FB-A3C9-F6C201119D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7374319-D93A-49D6-AD32-2CB7B1ED76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F40D486A-6ADE-4FAE-9919-F4C3668A9FD7}"/>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6" name="Marcador de pie de página 5">
            <a:extLst>
              <a:ext uri="{FF2B5EF4-FFF2-40B4-BE49-F238E27FC236}">
                <a16:creationId xmlns:a16="http://schemas.microsoft.com/office/drawing/2014/main" id="{DFF75BF2-C48A-4DD2-949A-62B2860C3C6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98293AA-58EE-495A-B53C-6F22F0CB1814}"/>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2844335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E6555A-3204-40F4-8AC2-EDDDB5B32BA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3801B7B-1C6D-49F6-BD4B-53D26E304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A510F340-5EB2-4B81-9570-8F6C906D8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0AF9ABB8-E85F-4123-A8BF-EDDBE1F6ADAE}"/>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6" name="Marcador de pie de página 5">
            <a:extLst>
              <a:ext uri="{FF2B5EF4-FFF2-40B4-BE49-F238E27FC236}">
                <a16:creationId xmlns:a16="http://schemas.microsoft.com/office/drawing/2014/main" id="{EB328CC6-7E4B-4E09-894A-A5C4F361169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EA0FA56-064B-4CFB-A42C-662D2091F6C2}"/>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304336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A93D26-48C1-4C75-BDC7-1F88D13578E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DD5C8C2-5D0F-45E6-8926-9886769879B3}"/>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D0EACFF-7E5D-45B0-BA68-82E8913E8304}"/>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3D1A0874-4E65-4078-8378-8101B4ECE9C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60673DF-C4DC-494E-A645-7E41B7E3F669}"/>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634728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9C03107-C64E-4335-BB00-8397A9F764D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6B99A1E-240C-436D-9A31-C3B0037554B6}"/>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EAD8A09-9055-481F-9B89-54174E3650BB}"/>
              </a:ext>
            </a:extLst>
          </p:cNvPr>
          <p:cNvSpPr>
            <a:spLocks noGrp="1"/>
          </p:cNvSpPr>
          <p:nvPr>
            <p:ph type="dt" sz="half" idx="10"/>
          </p:nvPr>
        </p:nvSpPr>
        <p:spPr/>
        <p:txBody>
          <a:body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76E71E56-1456-442D-A7B7-3AEAAB820FD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6F3F017-8DF1-4A85-8312-21E01653555A}"/>
              </a:ext>
            </a:extLst>
          </p:cNvPr>
          <p:cNvSpPr>
            <a:spLocks noGrp="1"/>
          </p:cNvSpPr>
          <p:nvPr>
            <p:ph type="sldNum" sz="quarter" idx="12"/>
          </p:nvPr>
        </p:nvSpPr>
        <p:spPr/>
        <p:txBody>
          <a:bodyPr/>
          <a:lstStyle/>
          <a:p>
            <a:fld id="{90631EFA-53EB-4B8D-9B8D-275D3F31831B}" type="slidenum">
              <a:rPr lang="es-ES" smtClean="0"/>
              <a:t>‹Nº›</a:t>
            </a:fld>
            <a:endParaRPr lang="es-ES"/>
          </a:p>
        </p:txBody>
      </p:sp>
    </p:spTree>
    <p:extLst>
      <p:ext uri="{BB962C8B-B14F-4D97-AF65-F5344CB8AC3E}">
        <p14:creationId xmlns:p14="http://schemas.microsoft.com/office/powerpoint/2010/main" val="1419634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B140B04-4BAF-45AB-B6C9-92153D210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80D50184-2F92-466E-8EDC-08BEAC6FE6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60D503-BAA6-463B-A626-8BF21D7598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16C86C-5A96-44F2-AC0D-DBB7DF4EA5F3}" type="datetimeFigureOut">
              <a:rPr lang="es-ES" smtClean="0"/>
              <a:t>05/02/2019</a:t>
            </a:fld>
            <a:endParaRPr lang="es-ES"/>
          </a:p>
        </p:txBody>
      </p:sp>
      <p:sp>
        <p:nvSpPr>
          <p:cNvPr id="5" name="Marcador de pie de página 4">
            <a:extLst>
              <a:ext uri="{FF2B5EF4-FFF2-40B4-BE49-F238E27FC236}">
                <a16:creationId xmlns:a16="http://schemas.microsoft.com/office/drawing/2014/main" id="{21997A76-993D-4890-A31F-11CD4E1728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FF6095F2-8580-4C67-864F-D4680B696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631EFA-53EB-4B8D-9B8D-275D3F31831B}" type="slidenum">
              <a:rPr lang="es-ES" smtClean="0"/>
              <a:t>‹Nº›</a:t>
            </a:fld>
            <a:endParaRPr lang="es-ES"/>
          </a:p>
        </p:txBody>
      </p:sp>
    </p:spTree>
    <p:extLst>
      <p:ext uri="{BB962C8B-B14F-4D97-AF65-F5344CB8AC3E}">
        <p14:creationId xmlns:p14="http://schemas.microsoft.com/office/powerpoint/2010/main" val="4198768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powerbi.microsoft.com/es-es/#connect-wrapper"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powerbi.microsoft.com/es-es/mobil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51692"/>
            <a:ext cx="8238978" cy="970671"/>
          </a:xfrm>
        </p:spPr>
        <p:txBody>
          <a:bodyPr>
            <a:normAutofit/>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1017565" y="151692"/>
            <a:ext cx="1388011" cy="970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a:extLst>
              <a:ext uri="{FF2B5EF4-FFF2-40B4-BE49-F238E27FC236}">
                <a16:creationId xmlns:a16="http://schemas.microsoft.com/office/drawing/2014/main" id="{C6048257-5118-48E1-8FE7-326B094F8F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19" t="36687" r="24942" b="2714"/>
          <a:stretch/>
        </p:blipFill>
        <p:spPr bwMode="auto">
          <a:xfrm>
            <a:off x="110200" y="1454246"/>
            <a:ext cx="3406723" cy="241612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BDEBBFDD-7481-4C2B-A4F2-B8BB1E859D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66727" y="1122363"/>
            <a:ext cx="2370146" cy="2569114"/>
          </a:xfrm>
          <a:prstGeom prst="rect">
            <a:avLst/>
          </a:prstGeom>
        </p:spPr>
      </p:pic>
      <p:sp>
        <p:nvSpPr>
          <p:cNvPr id="10" name="CuadroTexto 9">
            <a:extLst>
              <a:ext uri="{FF2B5EF4-FFF2-40B4-BE49-F238E27FC236}">
                <a16:creationId xmlns:a16="http://schemas.microsoft.com/office/drawing/2014/main" id="{19DD59B6-1B11-4D20-9D1F-6B346F9FDD45}"/>
              </a:ext>
            </a:extLst>
          </p:cNvPr>
          <p:cNvSpPr txBox="1"/>
          <p:nvPr/>
        </p:nvSpPr>
        <p:spPr>
          <a:xfrm>
            <a:off x="2405576" y="4023360"/>
            <a:ext cx="7528230" cy="2677656"/>
          </a:xfrm>
          <a:prstGeom prst="rect">
            <a:avLst/>
          </a:prstGeom>
          <a:noFill/>
        </p:spPr>
        <p:txBody>
          <a:bodyPr wrap="square" rtlCol="0">
            <a:spAutoFit/>
          </a:bodyPr>
          <a:lstStyle/>
          <a:p>
            <a:pPr algn="ctr"/>
            <a:r>
              <a:rPr lang="en-US" sz="2800" dirty="0"/>
              <a:t>Denis Enrique Guido Rodríguez</a:t>
            </a:r>
          </a:p>
          <a:p>
            <a:pPr algn="ctr"/>
            <a:r>
              <a:rPr lang="en-US" sz="2800" dirty="0"/>
              <a:t>Licenciado en </a:t>
            </a:r>
            <a:r>
              <a:rPr lang="es-NI" sz="2800" dirty="0"/>
              <a:t>Ciencias</a:t>
            </a:r>
            <a:r>
              <a:rPr lang="en-US" sz="2800" dirty="0"/>
              <a:t> de la </a:t>
            </a:r>
            <a:r>
              <a:rPr lang="es-NI" sz="2800" dirty="0"/>
              <a:t>Computación</a:t>
            </a:r>
            <a:r>
              <a:rPr lang="en-US" sz="2800" dirty="0"/>
              <a:t> </a:t>
            </a:r>
          </a:p>
          <a:p>
            <a:pPr algn="ctr"/>
            <a:r>
              <a:rPr lang="es-NI" sz="2800" dirty="0"/>
              <a:t>Graduado</a:t>
            </a:r>
            <a:r>
              <a:rPr lang="en-US" sz="2800" dirty="0"/>
              <a:t> de la UNAN-MANAGUA</a:t>
            </a:r>
            <a:endParaRPr lang="es-ES" sz="2800" dirty="0"/>
          </a:p>
          <a:p>
            <a:pPr algn="ctr"/>
            <a:r>
              <a:rPr lang="es-ES" sz="2800" dirty="0"/>
              <a:t>E-mail:denisenrique@hotmail.com</a:t>
            </a:r>
          </a:p>
          <a:p>
            <a:pPr algn="ctr"/>
            <a:r>
              <a:rPr lang="es-ES" sz="2800" dirty="0"/>
              <a:t>Tel M:87803109 C:82393093</a:t>
            </a:r>
          </a:p>
          <a:p>
            <a:pPr algn="ctr"/>
            <a:endParaRPr lang="en-US" sz="2800" dirty="0"/>
          </a:p>
        </p:txBody>
      </p:sp>
      <p:pic>
        <p:nvPicPr>
          <p:cNvPr id="11" name="Picture 2" descr="Resultado de imagen para unan managua">
            <a:extLst>
              <a:ext uri="{FF2B5EF4-FFF2-40B4-BE49-F238E27FC236}">
                <a16:creationId xmlns:a16="http://schemas.microsoft.com/office/drawing/2014/main" id="{8BFB4F31-13CC-4733-B93D-7EF93A6276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0610" y="4121834"/>
            <a:ext cx="1899139" cy="182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642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D3A41AF-AA36-448F-8AD7-82F638473E01}"/>
              </a:ext>
            </a:extLst>
          </p:cNvPr>
          <p:cNvSpPr txBox="1"/>
          <p:nvPr/>
        </p:nvSpPr>
        <p:spPr>
          <a:xfrm>
            <a:off x="332222" y="947429"/>
            <a:ext cx="11859778" cy="707886"/>
          </a:xfrm>
          <a:prstGeom prst="rect">
            <a:avLst/>
          </a:prstGeom>
          <a:noFill/>
        </p:spPr>
        <p:txBody>
          <a:bodyPr wrap="square" rtlCol="0">
            <a:spAutoFit/>
          </a:bodyPr>
          <a:lstStyle/>
          <a:p>
            <a:r>
              <a:rPr lang="es-MX" sz="4000" b="1" dirty="0"/>
              <a:t>¿Qué es power bi? ¿qué ventajas aporta a mi negocio?</a:t>
            </a:r>
            <a:endParaRPr lang="es-MX" sz="4000" b="1" cap="all" dirty="0"/>
          </a:p>
        </p:txBody>
      </p:sp>
      <p:sp>
        <p:nvSpPr>
          <p:cNvPr id="4" name="Rectángulo 3">
            <a:extLst>
              <a:ext uri="{FF2B5EF4-FFF2-40B4-BE49-F238E27FC236}">
                <a16:creationId xmlns:a16="http://schemas.microsoft.com/office/drawing/2014/main" id="{7CE242A6-4A36-4F8D-9E7F-6C2873221F54}"/>
              </a:ext>
            </a:extLst>
          </p:cNvPr>
          <p:cNvSpPr/>
          <p:nvPr/>
        </p:nvSpPr>
        <p:spPr>
          <a:xfrm>
            <a:off x="332222" y="1809512"/>
            <a:ext cx="11317357" cy="4154984"/>
          </a:xfrm>
          <a:prstGeom prst="rect">
            <a:avLst/>
          </a:prstGeom>
        </p:spPr>
        <p:txBody>
          <a:bodyPr wrap="square">
            <a:spAutoFit/>
          </a:bodyPr>
          <a:lstStyle/>
          <a:p>
            <a:pPr algn="just" fontAlgn="base"/>
            <a:r>
              <a:rPr lang="es-MX" sz="2400" b="1" dirty="0"/>
              <a:t>Power BI es un conjunto de aplicaciones de análisis de negocios que permite analizar datos y compartir información.</a:t>
            </a:r>
            <a:r>
              <a:rPr lang="es-MX" sz="2400" dirty="0"/>
              <a:t> Los paneles de Power BI ofrecen a los usuarios una vista de 360 grados con sus métricas más importantes en un mismo lugar. La información se actualiza en tiempo real y está disponible en todos sus dispositivos. Con un solo clic, los usuarios pueden explorar los datos subyacentes del panel mediante herramientas intuitivas que permiten obtener respuestas fácilmente. La creación de un panel es una sencilla operación gracias a las </a:t>
            </a:r>
            <a:r>
              <a:rPr lang="es-MX" sz="2400" dirty="0">
                <a:hlinkClick r:id="rId3"/>
              </a:rPr>
              <a:t>más de 50 conexiones</a:t>
            </a:r>
            <a:r>
              <a:rPr lang="es-MX" sz="2400" dirty="0"/>
              <a:t> a conocidas aplicaciones empresariales, que se completan con paneles generados y diseñados por expertos para ayudarle a ponerse en marcha rápidamente. Asimismo, puede </a:t>
            </a:r>
            <a:r>
              <a:rPr lang="es-MX" sz="2400" b="1" dirty="0"/>
              <a:t>acceder a sus datos e informes desde cualquier lugar con las aplicaciones móviles de </a:t>
            </a:r>
            <a:r>
              <a:rPr lang="es-MX" sz="2400" b="1" dirty="0">
                <a:hlinkClick r:id="rId4"/>
              </a:rPr>
              <a:t>Power BI Mobile</a:t>
            </a:r>
            <a:r>
              <a:rPr lang="es-MX" sz="2400" b="1" dirty="0"/>
              <a:t>, que se actualizan automáticamente con los cambios que se realizan en los datos.</a:t>
            </a:r>
            <a:endParaRPr lang="es-MX" sz="2400" b="0" i="0" dirty="0">
              <a:solidFill>
                <a:srgbClr val="000000"/>
              </a:solidFill>
              <a:effectLst/>
            </a:endParaRPr>
          </a:p>
        </p:txBody>
      </p:sp>
    </p:spTree>
    <p:extLst>
      <p:ext uri="{BB962C8B-B14F-4D97-AF65-F5344CB8AC3E}">
        <p14:creationId xmlns:p14="http://schemas.microsoft.com/office/powerpoint/2010/main" val="3027404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D3A41AF-AA36-448F-8AD7-82F638473E01}"/>
              </a:ext>
            </a:extLst>
          </p:cNvPr>
          <p:cNvSpPr txBox="1"/>
          <p:nvPr/>
        </p:nvSpPr>
        <p:spPr>
          <a:xfrm>
            <a:off x="2353143" y="871231"/>
            <a:ext cx="7528230" cy="707886"/>
          </a:xfrm>
          <a:prstGeom prst="rect">
            <a:avLst/>
          </a:prstGeom>
          <a:noFill/>
        </p:spPr>
        <p:txBody>
          <a:bodyPr wrap="square" rtlCol="0">
            <a:spAutoFit/>
          </a:bodyPr>
          <a:lstStyle/>
          <a:p>
            <a:pPr algn="ctr"/>
            <a:r>
              <a:rPr lang="en-US" sz="4000" b="1" dirty="0"/>
              <a:t>Modelamiento de Datos</a:t>
            </a:r>
          </a:p>
        </p:txBody>
      </p:sp>
      <p:sp>
        <p:nvSpPr>
          <p:cNvPr id="4" name="Rectángulo 3">
            <a:extLst>
              <a:ext uri="{FF2B5EF4-FFF2-40B4-BE49-F238E27FC236}">
                <a16:creationId xmlns:a16="http://schemas.microsoft.com/office/drawing/2014/main" id="{7CE242A6-4A36-4F8D-9E7F-6C2873221F54}"/>
              </a:ext>
            </a:extLst>
          </p:cNvPr>
          <p:cNvSpPr/>
          <p:nvPr/>
        </p:nvSpPr>
        <p:spPr>
          <a:xfrm>
            <a:off x="437321" y="1579117"/>
            <a:ext cx="11317357" cy="3785652"/>
          </a:xfrm>
          <a:prstGeom prst="rect">
            <a:avLst/>
          </a:prstGeom>
        </p:spPr>
        <p:txBody>
          <a:bodyPr wrap="square">
            <a:spAutoFit/>
          </a:bodyPr>
          <a:lstStyle/>
          <a:p>
            <a:pPr algn="just" fontAlgn="base"/>
            <a:r>
              <a:rPr lang="es-MX" sz="2400" dirty="0">
                <a:solidFill>
                  <a:srgbClr val="000000"/>
                </a:solidFill>
              </a:rPr>
              <a:t>Esta es probablemente una de las partes más importantes, si no la más importante. ¿Por qué? piense en ello  Si le sucede que tiene un mal modelo de datos y sus datos están por todas partes o no almacenados en el camino correcto, entonces va a ser mucho más complejo el desarrollar sus fórmulas DAX de Inteligencia de Tiempo ,Pronósticos, etc.  y, al final, el espacio real de almacenamiento que las tablas están tomando de la memoria podría estar bajando el rendimiento al pasar a través de la cuadrícula de Power BI y hacer nuevas columnas calculadas.</a:t>
            </a:r>
          </a:p>
          <a:p>
            <a:pPr algn="just" fontAlgn="base"/>
            <a:endParaRPr lang="es-MX" sz="2400" dirty="0">
              <a:solidFill>
                <a:srgbClr val="000000"/>
              </a:solidFill>
            </a:endParaRPr>
          </a:p>
          <a:p>
            <a:pPr algn="just" fontAlgn="base"/>
            <a:r>
              <a:rPr lang="es-MX" sz="2400" dirty="0">
                <a:solidFill>
                  <a:srgbClr val="000000"/>
                </a:solidFill>
              </a:rPr>
              <a:t>Por encima de todo, lo que realmente queremos es mantener las cosas tan simples como sea posible y tan optimizado como les sea posible ser para la generación de informes.</a:t>
            </a:r>
            <a:endParaRPr lang="es-MX" sz="2400" b="0" i="0" dirty="0">
              <a:solidFill>
                <a:srgbClr val="000000"/>
              </a:solidFill>
              <a:effectLst/>
            </a:endParaRPr>
          </a:p>
        </p:txBody>
      </p:sp>
    </p:spTree>
    <p:extLst>
      <p:ext uri="{BB962C8B-B14F-4D97-AF65-F5344CB8AC3E}">
        <p14:creationId xmlns:p14="http://schemas.microsoft.com/office/powerpoint/2010/main" val="733546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8" name="Imagen 7">
            <a:extLst>
              <a:ext uri="{FF2B5EF4-FFF2-40B4-BE49-F238E27FC236}">
                <a16:creationId xmlns:a16="http://schemas.microsoft.com/office/drawing/2014/main" id="{44F2A5DF-7A18-4117-8970-D641598C75A2}"/>
              </a:ext>
            </a:extLst>
          </p:cNvPr>
          <p:cNvPicPr>
            <a:picLocks noChangeAspect="1"/>
          </p:cNvPicPr>
          <p:nvPr/>
        </p:nvPicPr>
        <p:blipFill>
          <a:blip r:embed="rId4"/>
          <a:stretch>
            <a:fillRect/>
          </a:stretch>
        </p:blipFill>
        <p:spPr>
          <a:xfrm>
            <a:off x="0" y="1929268"/>
            <a:ext cx="12077700" cy="4391025"/>
          </a:xfrm>
          <a:prstGeom prst="rect">
            <a:avLst/>
          </a:prstGeom>
        </p:spPr>
      </p:pic>
    </p:spTree>
    <p:extLst>
      <p:ext uri="{BB962C8B-B14F-4D97-AF65-F5344CB8AC3E}">
        <p14:creationId xmlns:p14="http://schemas.microsoft.com/office/powerpoint/2010/main" val="1192423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D3A41AF-AA36-448F-8AD7-82F638473E0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3" name="Imagen 2">
            <a:extLst>
              <a:ext uri="{FF2B5EF4-FFF2-40B4-BE49-F238E27FC236}">
                <a16:creationId xmlns:a16="http://schemas.microsoft.com/office/drawing/2014/main" id="{A3256924-4CDD-4CC6-A30C-4FC938D67E4A}"/>
              </a:ext>
            </a:extLst>
          </p:cNvPr>
          <p:cNvPicPr>
            <a:picLocks noChangeAspect="1"/>
          </p:cNvPicPr>
          <p:nvPr/>
        </p:nvPicPr>
        <p:blipFill>
          <a:blip r:embed="rId3"/>
          <a:stretch>
            <a:fillRect/>
          </a:stretch>
        </p:blipFill>
        <p:spPr>
          <a:xfrm>
            <a:off x="280077" y="3289494"/>
            <a:ext cx="4094975" cy="3370220"/>
          </a:xfrm>
          <a:prstGeom prst="rect">
            <a:avLst/>
          </a:prstGeom>
        </p:spPr>
      </p:pic>
      <p:sp>
        <p:nvSpPr>
          <p:cNvPr id="6" name="Rectángulo 5">
            <a:extLst>
              <a:ext uri="{FF2B5EF4-FFF2-40B4-BE49-F238E27FC236}">
                <a16:creationId xmlns:a16="http://schemas.microsoft.com/office/drawing/2014/main" id="{921D7577-DF44-48A7-928D-99388DC6DE8E}"/>
              </a:ext>
            </a:extLst>
          </p:cNvPr>
          <p:cNvSpPr/>
          <p:nvPr/>
        </p:nvSpPr>
        <p:spPr>
          <a:xfrm>
            <a:off x="524343" y="1300201"/>
            <a:ext cx="11376925" cy="1569660"/>
          </a:xfrm>
          <a:prstGeom prst="rect">
            <a:avLst/>
          </a:prstGeom>
        </p:spPr>
        <p:txBody>
          <a:bodyPr wrap="square">
            <a:spAutoFit/>
          </a:bodyPr>
          <a:lstStyle/>
          <a:p>
            <a:pPr algn="just" fontAlgn="base"/>
            <a:r>
              <a:rPr lang="es-MX" sz="2400" dirty="0">
                <a:solidFill>
                  <a:srgbClr val="000000"/>
                </a:solidFill>
              </a:rPr>
              <a:t>Tipos de Tablas (Catálogos y Operaciones) y sus atributos</a:t>
            </a:r>
          </a:p>
          <a:p>
            <a:pPr algn="just" fontAlgn="base"/>
            <a:r>
              <a:rPr lang="es-MX" sz="2400" dirty="0">
                <a:solidFill>
                  <a:srgbClr val="000000"/>
                </a:solidFill>
              </a:rPr>
              <a:t>En primer lugar, tenemos que entender que Power BI solo maneja tablas … dentro de una tabla encontrará campo (columnas) y dentro de esos campos encontrarás filas. Un registro es la combinación de todos los campos, o es sólo una fila completa, así por ejemplo:</a:t>
            </a:r>
            <a:endParaRPr lang="es-MX" sz="2400" b="0" i="0" dirty="0">
              <a:solidFill>
                <a:srgbClr val="000000"/>
              </a:solidFill>
              <a:effectLst/>
            </a:endParaRPr>
          </a:p>
        </p:txBody>
      </p:sp>
      <p:sp>
        <p:nvSpPr>
          <p:cNvPr id="8" name="CuadroTexto 7">
            <a:extLst>
              <a:ext uri="{FF2B5EF4-FFF2-40B4-BE49-F238E27FC236}">
                <a16:creationId xmlns:a16="http://schemas.microsoft.com/office/drawing/2014/main" id="{E9A7FA17-1012-479C-A6B8-B83559E93C99}"/>
              </a:ext>
            </a:extLst>
          </p:cNvPr>
          <p:cNvSpPr txBox="1"/>
          <p:nvPr/>
        </p:nvSpPr>
        <p:spPr>
          <a:xfrm>
            <a:off x="721291" y="2889384"/>
            <a:ext cx="2851903" cy="400110"/>
          </a:xfrm>
          <a:prstGeom prst="rect">
            <a:avLst/>
          </a:prstGeom>
          <a:noFill/>
        </p:spPr>
        <p:txBody>
          <a:bodyPr wrap="square" rtlCol="0">
            <a:spAutoFit/>
          </a:bodyPr>
          <a:lstStyle/>
          <a:p>
            <a:pPr algn="ctr"/>
            <a:r>
              <a:rPr lang="en-US" sz="2000" b="1" dirty="0"/>
              <a:t>Tablas de Catálogos</a:t>
            </a:r>
          </a:p>
        </p:txBody>
      </p:sp>
      <p:pic>
        <p:nvPicPr>
          <p:cNvPr id="9" name="Imagen 8">
            <a:extLst>
              <a:ext uri="{FF2B5EF4-FFF2-40B4-BE49-F238E27FC236}">
                <a16:creationId xmlns:a16="http://schemas.microsoft.com/office/drawing/2014/main" id="{3B07F24E-46A7-4CF9-ABC3-66613017A610}"/>
              </a:ext>
            </a:extLst>
          </p:cNvPr>
          <p:cNvPicPr>
            <a:picLocks noChangeAspect="1"/>
          </p:cNvPicPr>
          <p:nvPr/>
        </p:nvPicPr>
        <p:blipFill>
          <a:blip r:embed="rId4"/>
          <a:stretch>
            <a:fillRect/>
          </a:stretch>
        </p:blipFill>
        <p:spPr>
          <a:xfrm>
            <a:off x="4816266" y="3289494"/>
            <a:ext cx="3203428" cy="3083171"/>
          </a:xfrm>
          <a:prstGeom prst="rect">
            <a:avLst/>
          </a:prstGeom>
        </p:spPr>
      </p:pic>
      <p:sp>
        <p:nvSpPr>
          <p:cNvPr id="10" name="CuadroTexto 9">
            <a:extLst>
              <a:ext uri="{FF2B5EF4-FFF2-40B4-BE49-F238E27FC236}">
                <a16:creationId xmlns:a16="http://schemas.microsoft.com/office/drawing/2014/main" id="{2CD3D628-E926-4652-9C4C-4DE09A22A502}"/>
              </a:ext>
            </a:extLst>
          </p:cNvPr>
          <p:cNvSpPr txBox="1"/>
          <p:nvPr/>
        </p:nvSpPr>
        <p:spPr>
          <a:xfrm>
            <a:off x="6417980" y="2893741"/>
            <a:ext cx="2888905" cy="400110"/>
          </a:xfrm>
          <a:prstGeom prst="rect">
            <a:avLst/>
          </a:prstGeom>
          <a:noFill/>
        </p:spPr>
        <p:txBody>
          <a:bodyPr wrap="square" rtlCol="0">
            <a:spAutoFit/>
          </a:bodyPr>
          <a:lstStyle/>
          <a:p>
            <a:pPr algn="ctr"/>
            <a:r>
              <a:rPr lang="en-US" sz="2000" b="1" dirty="0"/>
              <a:t>Tablas de Operaciones</a:t>
            </a:r>
          </a:p>
        </p:txBody>
      </p:sp>
      <p:pic>
        <p:nvPicPr>
          <p:cNvPr id="11" name="Imagen 10">
            <a:extLst>
              <a:ext uri="{FF2B5EF4-FFF2-40B4-BE49-F238E27FC236}">
                <a16:creationId xmlns:a16="http://schemas.microsoft.com/office/drawing/2014/main" id="{D0985140-E169-4439-941B-0047387E800E}"/>
              </a:ext>
            </a:extLst>
          </p:cNvPr>
          <p:cNvPicPr>
            <a:picLocks noChangeAspect="1"/>
          </p:cNvPicPr>
          <p:nvPr/>
        </p:nvPicPr>
        <p:blipFill>
          <a:blip r:embed="rId5"/>
          <a:stretch>
            <a:fillRect/>
          </a:stretch>
        </p:blipFill>
        <p:spPr>
          <a:xfrm>
            <a:off x="8300337" y="3276839"/>
            <a:ext cx="3524570" cy="3095826"/>
          </a:xfrm>
          <a:prstGeom prst="rect">
            <a:avLst/>
          </a:prstGeom>
        </p:spPr>
      </p:pic>
    </p:spTree>
    <p:extLst>
      <p:ext uri="{BB962C8B-B14F-4D97-AF65-F5344CB8AC3E}">
        <p14:creationId xmlns:p14="http://schemas.microsoft.com/office/powerpoint/2010/main" val="3073311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D3A41AF-AA36-448F-8AD7-82F638473E0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9" name="Imagen 8">
            <a:extLst>
              <a:ext uri="{FF2B5EF4-FFF2-40B4-BE49-F238E27FC236}">
                <a16:creationId xmlns:a16="http://schemas.microsoft.com/office/drawing/2014/main" id="{3B07F24E-46A7-4CF9-ABC3-66613017A610}"/>
              </a:ext>
            </a:extLst>
          </p:cNvPr>
          <p:cNvPicPr>
            <a:picLocks noChangeAspect="1"/>
          </p:cNvPicPr>
          <p:nvPr/>
        </p:nvPicPr>
        <p:blipFill>
          <a:blip r:embed="rId3"/>
          <a:stretch>
            <a:fillRect/>
          </a:stretch>
        </p:blipFill>
        <p:spPr>
          <a:xfrm>
            <a:off x="464234" y="2734634"/>
            <a:ext cx="3203428" cy="3083171"/>
          </a:xfrm>
          <a:prstGeom prst="rect">
            <a:avLst/>
          </a:prstGeom>
        </p:spPr>
      </p:pic>
      <p:sp>
        <p:nvSpPr>
          <p:cNvPr id="4" name="Rectángulo 3">
            <a:extLst>
              <a:ext uri="{FF2B5EF4-FFF2-40B4-BE49-F238E27FC236}">
                <a16:creationId xmlns:a16="http://schemas.microsoft.com/office/drawing/2014/main" id="{051BA0D1-FA80-4254-B93C-B1679F49747C}"/>
              </a:ext>
            </a:extLst>
          </p:cNvPr>
          <p:cNvSpPr/>
          <p:nvPr/>
        </p:nvSpPr>
        <p:spPr>
          <a:xfrm>
            <a:off x="464234" y="1448959"/>
            <a:ext cx="11727766" cy="1200329"/>
          </a:xfrm>
          <a:prstGeom prst="rect">
            <a:avLst/>
          </a:prstGeom>
        </p:spPr>
        <p:txBody>
          <a:bodyPr wrap="square">
            <a:spAutoFit/>
          </a:bodyPr>
          <a:lstStyle/>
          <a:p>
            <a:pPr algn="just" fontAlgn="base"/>
            <a:r>
              <a:rPr lang="es-MX" sz="2400" dirty="0">
                <a:solidFill>
                  <a:srgbClr val="000000"/>
                </a:solidFill>
              </a:rPr>
              <a:t>Llaves Primarias y Foráneas</a:t>
            </a:r>
          </a:p>
          <a:p>
            <a:pPr algn="just" fontAlgn="base"/>
            <a:r>
              <a:rPr lang="es-MX" sz="2400" dirty="0">
                <a:solidFill>
                  <a:srgbClr val="000000"/>
                </a:solidFill>
              </a:rPr>
              <a:t>Al hablar sobre los tipos de tablas que vamos a encontrar durante nuestro viaje en Power BI, también tenemos que hablar sobre el tipo de campos o columnas que relacionan cada tabla.</a:t>
            </a:r>
            <a:endParaRPr lang="es-MX" sz="2400" b="0" i="0" dirty="0">
              <a:solidFill>
                <a:srgbClr val="000000"/>
              </a:solidFill>
              <a:effectLst/>
            </a:endParaRPr>
          </a:p>
        </p:txBody>
      </p:sp>
      <p:sp>
        <p:nvSpPr>
          <p:cNvPr id="12" name="Rectángulo 11">
            <a:extLst>
              <a:ext uri="{FF2B5EF4-FFF2-40B4-BE49-F238E27FC236}">
                <a16:creationId xmlns:a16="http://schemas.microsoft.com/office/drawing/2014/main" id="{3A82927E-661A-45F0-AB4C-EEB756E859A4}"/>
              </a:ext>
            </a:extLst>
          </p:cNvPr>
          <p:cNvSpPr/>
          <p:nvPr/>
        </p:nvSpPr>
        <p:spPr>
          <a:xfrm>
            <a:off x="3962399" y="2667918"/>
            <a:ext cx="7765366" cy="1015663"/>
          </a:xfrm>
          <a:prstGeom prst="rect">
            <a:avLst/>
          </a:prstGeom>
        </p:spPr>
        <p:txBody>
          <a:bodyPr wrap="square">
            <a:spAutoFit/>
          </a:bodyPr>
          <a:lstStyle/>
          <a:p>
            <a:pPr algn="just" fontAlgn="base"/>
            <a:r>
              <a:rPr lang="es-MX" sz="2000" dirty="0">
                <a:solidFill>
                  <a:srgbClr val="000000"/>
                </a:solidFill>
              </a:rPr>
              <a:t>En la tabla anterior podemos agrupar los campos como</a:t>
            </a:r>
          </a:p>
          <a:p>
            <a:pPr algn="just" fontAlgn="base"/>
            <a:r>
              <a:rPr lang="es-MX" sz="2000" b="1" dirty="0">
                <a:solidFill>
                  <a:srgbClr val="000000"/>
                </a:solidFill>
              </a:rPr>
              <a:t>Llave Primaria:</a:t>
            </a:r>
            <a:r>
              <a:rPr lang="es-MX" sz="2000" dirty="0">
                <a:solidFill>
                  <a:srgbClr val="000000"/>
                </a:solidFill>
              </a:rPr>
              <a:t> Nfactura</a:t>
            </a:r>
          </a:p>
          <a:p>
            <a:pPr algn="just" fontAlgn="base"/>
            <a:r>
              <a:rPr lang="es-MX" sz="2000" b="1" dirty="0">
                <a:solidFill>
                  <a:srgbClr val="000000"/>
                </a:solidFill>
              </a:rPr>
              <a:t>Llaves Foráneas:</a:t>
            </a:r>
            <a:r>
              <a:rPr lang="es-MX" sz="2000" dirty="0">
                <a:solidFill>
                  <a:srgbClr val="000000"/>
                </a:solidFill>
              </a:rPr>
              <a:t> CODCLI</a:t>
            </a:r>
            <a:endParaRPr lang="es-MX" sz="2000" b="0" i="0" dirty="0">
              <a:solidFill>
                <a:srgbClr val="000000"/>
              </a:solidFill>
              <a:effectLst/>
            </a:endParaRPr>
          </a:p>
        </p:txBody>
      </p:sp>
      <p:sp>
        <p:nvSpPr>
          <p:cNvPr id="13" name="Rectángulo 12">
            <a:extLst>
              <a:ext uri="{FF2B5EF4-FFF2-40B4-BE49-F238E27FC236}">
                <a16:creationId xmlns:a16="http://schemas.microsoft.com/office/drawing/2014/main" id="{EA54382E-C4F3-4D91-A9A0-451164ADBF31}"/>
              </a:ext>
            </a:extLst>
          </p:cNvPr>
          <p:cNvSpPr/>
          <p:nvPr/>
        </p:nvSpPr>
        <p:spPr>
          <a:xfrm>
            <a:off x="3962399" y="3856102"/>
            <a:ext cx="7765366" cy="2554545"/>
          </a:xfrm>
          <a:prstGeom prst="rect">
            <a:avLst/>
          </a:prstGeom>
        </p:spPr>
        <p:txBody>
          <a:bodyPr wrap="square">
            <a:spAutoFit/>
          </a:bodyPr>
          <a:lstStyle/>
          <a:p>
            <a:pPr algn="just" fontAlgn="base"/>
            <a:r>
              <a:rPr lang="es-MX" sz="2000" b="1" dirty="0">
                <a:solidFill>
                  <a:srgbClr val="000000"/>
                </a:solidFill>
              </a:rPr>
              <a:t>Llave Primaria =</a:t>
            </a:r>
            <a:r>
              <a:rPr lang="es-MX" sz="2000" dirty="0">
                <a:solidFill>
                  <a:srgbClr val="000000"/>
                </a:solidFill>
              </a:rPr>
              <a:t> El identificador de columna de la tabla en donde nos encontramos. Se trata de un valor único que hace una distinción entre cada fila de la tabla especificada.</a:t>
            </a:r>
          </a:p>
          <a:p>
            <a:pPr algn="just" fontAlgn="base"/>
            <a:r>
              <a:rPr lang="es-MX" sz="2000" b="1" dirty="0">
                <a:solidFill>
                  <a:srgbClr val="000000"/>
                </a:solidFill>
              </a:rPr>
              <a:t>Llave Foránea =</a:t>
            </a:r>
            <a:r>
              <a:rPr lang="es-MX" sz="2000" dirty="0">
                <a:solidFill>
                  <a:srgbClr val="000000"/>
                </a:solidFill>
              </a:rPr>
              <a:t> es una llave primaria que pertenece a otra tabla, pero que se encuentra en la tabla de arriba, porque la usamos para relacionar las tablas. Por lo tanto, estamos creando las relaciones entre los Vendedores y la tabla Vendedores utilizando sus claves principales como claves externas en nuestra tabla de hechos.</a:t>
            </a:r>
            <a:endParaRPr lang="es-MX" sz="2000" b="0" i="0" dirty="0">
              <a:solidFill>
                <a:srgbClr val="000000"/>
              </a:solidFill>
              <a:effectLst/>
            </a:endParaRPr>
          </a:p>
        </p:txBody>
      </p:sp>
    </p:spTree>
    <p:extLst>
      <p:ext uri="{BB962C8B-B14F-4D97-AF65-F5344CB8AC3E}">
        <p14:creationId xmlns:p14="http://schemas.microsoft.com/office/powerpoint/2010/main" val="1964344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2582759" y="1415608"/>
            <a:ext cx="7528230" cy="461665"/>
          </a:xfrm>
          <a:prstGeom prst="rect">
            <a:avLst/>
          </a:prstGeom>
          <a:noFill/>
        </p:spPr>
        <p:txBody>
          <a:bodyPr wrap="square" rtlCol="0">
            <a:spAutoFit/>
          </a:bodyPr>
          <a:lstStyle/>
          <a:p>
            <a:pPr algn="ctr"/>
            <a:r>
              <a:rPr lang="en-US" sz="2400" b="1" dirty="0"/>
              <a:t>Ejemplo Modelar el Siguiente Archivo de Excel</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8" name="Imagen 7">
            <a:extLst>
              <a:ext uri="{FF2B5EF4-FFF2-40B4-BE49-F238E27FC236}">
                <a16:creationId xmlns:a16="http://schemas.microsoft.com/office/drawing/2014/main" id="{44F2A5DF-7A18-4117-8970-D641598C75A2}"/>
              </a:ext>
            </a:extLst>
          </p:cNvPr>
          <p:cNvPicPr>
            <a:picLocks noChangeAspect="1"/>
          </p:cNvPicPr>
          <p:nvPr/>
        </p:nvPicPr>
        <p:blipFill>
          <a:blip r:embed="rId3"/>
          <a:stretch>
            <a:fillRect/>
          </a:stretch>
        </p:blipFill>
        <p:spPr>
          <a:xfrm>
            <a:off x="0" y="1929268"/>
            <a:ext cx="12077700" cy="4391025"/>
          </a:xfrm>
          <a:prstGeom prst="rect">
            <a:avLst/>
          </a:prstGeom>
        </p:spPr>
      </p:pic>
    </p:spTree>
    <p:extLst>
      <p:ext uri="{BB962C8B-B14F-4D97-AF65-F5344CB8AC3E}">
        <p14:creationId xmlns:p14="http://schemas.microsoft.com/office/powerpoint/2010/main" val="2270477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1091582" y="1382244"/>
            <a:ext cx="11245783" cy="461665"/>
          </a:xfrm>
          <a:prstGeom prst="rect">
            <a:avLst/>
          </a:prstGeom>
          <a:noFill/>
        </p:spPr>
        <p:txBody>
          <a:bodyPr wrap="square" rtlCol="0">
            <a:spAutoFit/>
          </a:bodyPr>
          <a:lstStyle/>
          <a:p>
            <a:pPr algn="ctr"/>
            <a:r>
              <a:rPr lang="en-US" sz="2400" b="1" dirty="0"/>
              <a:t>Identificar Catálogos de Productos (</a:t>
            </a:r>
            <a:r>
              <a:rPr lang="es-ES" sz="2400" b="1" dirty="0"/>
              <a:t>en los catálogos la información no se repite</a:t>
            </a:r>
            <a:r>
              <a:rPr lang="en-US" sz="2400" b="1" dirty="0"/>
              <a:t>)</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3" name="Imagen 2">
            <a:extLst>
              <a:ext uri="{FF2B5EF4-FFF2-40B4-BE49-F238E27FC236}">
                <a16:creationId xmlns:a16="http://schemas.microsoft.com/office/drawing/2014/main" id="{B9FA40F6-06C6-4C6F-9524-1C4E71BEA696}"/>
              </a:ext>
            </a:extLst>
          </p:cNvPr>
          <p:cNvPicPr>
            <a:picLocks noChangeAspect="1"/>
          </p:cNvPicPr>
          <p:nvPr/>
        </p:nvPicPr>
        <p:blipFill rotWithShape="1">
          <a:blip r:embed="rId3"/>
          <a:srcRect r="40435"/>
          <a:stretch/>
        </p:blipFill>
        <p:spPr>
          <a:xfrm>
            <a:off x="119574" y="1929268"/>
            <a:ext cx="6886135" cy="4325000"/>
          </a:xfrm>
          <a:prstGeom prst="rect">
            <a:avLst/>
          </a:prstGeom>
        </p:spPr>
      </p:pic>
      <p:pic>
        <p:nvPicPr>
          <p:cNvPr id="4" name="Imagen 3">
            <a:extLst>
              <a:ext uri="{FF2B5EF4-FFF2-40B4-BE49-F238E27FC236}">
                <a16:creationId xmlns:a16="http://schemas.microsoft.com/office/drawing/2014/main" id="{E4822AC8-7648-4FC4-98CF-39D0FD3F6533}"/>
              </a:ext>
            </a:extLst>
          </p:cNvPr>
          <p:cNvPicPr>
            <a:picLocks noChangeAspect="1"/>
          </p:cNvPicPr>
          <p:nvPr/>
        </p:nvPicPr>
        <p:blipFill>
          <a:blip r:embed="rId4"/>
          <a:stretch>
            <a:fillRect/>
          </a:stretch>
        </p:blipFill>
        <p:spPr>
          <a:xfrm>
            <a:off x="7844644" y="1929268"/>
            <a:ext cx="3189556" cy="2438694"/>
          </a:xfrm>
          <a:prstGeom prst="rect">
            <a:avLst/>
          </a:prstGeom>
        </p:spPr>
      </p:pic>
    </p:spTree>
    <p:extLst>
      <p:ext uri="{BB962C8B-B14F-4D97-AF65-F5344CB8AC3E}">
        <p14:creationId xmlns:p14="http://schemas.microsoft.com/office/powerpoint/2010/main" val="175822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1434906" y="1415608"/>
            <a:ext cx="11085340" cy="461665"/>
          </a:xfrm>
          <a:prstGeom prst="rect">
            <a:avLst/>
          </a:prstGeom>
          <a:noFill/>
        </p:spPr>
        <p:txBody>
          <a:bodyPr wrap="square" rtlCol="0">
            <a:spAutoFit/>
          </a:bodyPr>
          <a:lstStyle/>
          <a:p>
            <a:pPr algn="ctr"/>
            <a:r>
              <a:rPr lang="en-US" sz="2400" b="1" dirty="0"/>
              <a:t>Identificar Catálogos de Clientes (</a:t>
            </a:r>
            <a:r>
              <a:rPr lang="es-ES" sz="2400" b="1" dirty="0"/>
              <a:t>en los catálogos la información no se repite</a:t>
            </a:r>
            <a:r>
              <a:rPr lang="en-US" sz="2400" b="1" dirty="0"/>
              <a:t>)</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8" name="Imagen 7">
            <a:extLst>
              <a:ext uri="{FF2B5EF4-FFF2-40B4-BE49-F238E27FC236}">
                <a16:creationId xmlns:a16="http://schemas.microsoft.com/office/drawing/2014/main" id="{E66A045E-BF47-4C24-B84F-A3E7EA8E7B91}"/>
              </a:ext>
            </a:extLst>
          </p:cNvPr>
          <p:cNvPicPr>
            <a:picLocks noChangeAspect="1"/>
          </p:cNvPicPr>
          <p:nvPr/>
        </p:nvPicPr>
        <p:blipFill rotWithShape="1">
          <a:blip r:embed="rId3"/>
          <a:srcRect r="46661"/>
          <a:stretch/>
        </p:blipFill>
        <p:spPr>
          <a:xfrm>
            <a:off x="33265" y="1811248"/>
            <a:ext cx="7225664" cy="4391025"/>
          </a:xfrm>
          <a:prstGeom prst="rect">
            <a:avLst/>
          </a:prstGeom>
        </p:spPr>
      </p:pic>
      <p:pic>
        <p:nvPicPr>
          <p:cNvPr id="9" name="Imagen 8">
            <a:extLst>
              <a:ext uri="{FF2B5EF4-FFF2-40B4-BE49-F238E27FC236}">
                <a16:creationId xmlns:a16="http://schemas.microsoft.com/office/drawing/2014/main" id="{767C88E0-16EE-4A6B-82DC-56FBF0F87BB5}"/>
              </a:ext>
            </a:extLst>
          </p:cNvPr>
          <p:cNvPicPr>
            <a:picLocks noChangeAspect="1"/>
          </p:cNvPicPr>
          <p:nvPr/>
        </p:nvPicPr>
        <p:blipFill>
          <a:blip r:embed="rId4"/>
          <a:stretch>
            <a:fillRect/>
          </a:stretch>
        </p:blipFill>
        <p:spPr>
          <a:xfrm>
            <a:off x="7967910" y="2019340"/>
            <a:ext cx="3573708" cy="3631144"/>
          </a:xfrm>
          <a:prstGeom prst="rect">
            <a:avLst/>
          </a:prstGeom>
        </p:spPr>
      </p:pic>
    </p:spTree>
    <p:extLst>
      <p:ext uri="{BB962C8B-B14F-4D97-AF65-F5344CB8AC3E}">
        <p14:creationId xmlns:p14="http://schemas.microsoft.com/office/powerpoint/2010/main" val="3872140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1434906" y="1314330"/>
            <a:ext cx="11085340" cy="461665"/>
          </a:xfrm>
          <a:prstGeom prst="rect">
            <a:avLst/>
          </a:prstGeom>
          <a:noFill/>
        </p:spPr>
        <p:txBody>
          <a:bodyPr wrap="square" rtlCol="0">
            <a:spAutoFit/>
          </a:bodyPr>
          <a:lstStyle/>
          <a:p>
            <a:pPr algn="ctr"/>
            <a:r>
              <a:rPr lang="en-US" sz="2400" b="1" dirty="0"/>
              <a:t>Identificar Operaciones Facturas (operaciones depende de catálogos)</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3" name="Imagen 2">
            <a:extLst>
              <a:ext uri="{FF2B5EF4-FFF2-40B4-BE49-F238E27FC236}">
                <a16:creationId xmlns:a16="http://schemas.microsoft.com/office/drawing/2014/main" id="{C96A64B8-D8C4-467C-802A-F2B17CC6C0C5}"/>
              </a:ext>
            </a:extLst>
          </p:cNvPr>
          <p:cNvPicPr>
            <a:picLocks noChangeAspect="1"/>
          </p:cNvPicPr>
          <p:nvPr/>
        </p:nvPicPr>
        <p:blipFill rotWithShape="1">
          <a:blip r:embed="rId3"/>
          <a:srcRect l="59046" r="18658"/>
          <a:stretch/>
        </p:blipFill>
        <p:spPr>
          <a:xfrm>
            <a:off x="1420030" y="2297093"/>
            <a:ext cx="4950618" cy="4391025"/>
          </a:xfrm>
          <a:prstGeom prst="rect">
            <a:avLst/>
          </a:prstGeom>
        </p:spPr>
      </p:pic>
      <p:pic>
        <p:nvPicPr>
          <p:cNvPr id="10" name="Imagen 9">
            <a:extLst>
              <a:ext uri="{FF2B5EF4-FFF2-40B4-BE49-F238E27FC236}">
                <a16:creationId xmlns:a16="http://schemas.microsoft.com/office/drawing/2014/main" id="{6C7A1B34-1380-4E64-9EBD-EA9DC7EA5B98}"/>
              </a:ext>
            </a:extLst>
          </p:cNvPr>
          <p:cNvPicPr>
            <a:picLocks noChangeAspect="1"/>
          </p:cNvPicPr>
          <p:nvPr/>
        </p:nvPicPr>
        <p:blipFill rotWithShape="1">
          <a:blip r:embed="rId3"/>
          <a:srcRect r="93745"/>
          <a:stretch/>
        </p:blipFill>
        <p:spPr>
          <a:xfrm>
            <a:off x="45788" y="2322210"/>
            <a:ext cx="1389118" cy="4391025"/>
          </a:xfrm>
          <a:prstGeom prst="rect">
            <a:avLst/>
          </a:prstGeom>
        </p:spPr>
      </p:pic>
      <p:pic>
        <p:nvPicPr>
          <p:cNvPr id="4" name="Imagen 3">
            <a:extLst>
              <a:ext uri="{FF2B5EF4-FFF2-40B4-BE49-F238E27FC236}">
                <a16:creationId xmlns:a16="http://schemas.microsoft.com/office/drawing/2014/main" id="{420AD6CF-7978-4245-A00F-F37535C658D4}"/>
              </a:ext>
            </a:extLst>
          </p:cNvPr>
          <p:cNvPicPr>
            <a:picLocks noChangeAspect="1"/>
          </p:cNvPicPr>
          <p:nvPr/>
        </p:nvPicPr>
        <p:blipFill>
          <a:blip r:embed="rId4"/>
          <a:stretch>
            <a:fillRect/>
          </a:stretch>
        </p:blipFill>
        <p:spPr>
          <a:xfrm>
            <a:off x="7517793" y="2451771"/>
            <a:ext cx="3254177" cy="3172178"/>
          </a:xfrm>
          <a:prstGeom prst="rect">
            <a:avLst/>
          </a:prstGeom>
        </p:spPr>
      </p:pic>
      <p:sp>
        <p:nvSpPr>
          <p:cNvPr id="11" name="CuadroTexto 10">
            <a:extLst>
              <a:ext uri="{FF2B5EF4-FFF2-40B4-BE49-F238E27FC236}">
                <a16:creationId xmlns:a16="http://schemas.microsoft.com/office/drawing/2014/main" id="{1B86572B-10E3-42A9-AD1B-D1F11D94F7D3}"/>
              </a:ext>
            </a:extLst>
          </p:cNvPr>
          <p:cNvSpPr txBox="1"/>
          <p:nvPr/>
        </p:nvSpPr>
        <p:spPr>
          <a:xfrm>
            <a:off x="5513147" y="1876913"/>
            <a:ext cx="6678853" cy="369332"/>
          </a:xfrm>
          <a:prstGeom prst="rect">
            <a:avLst/>
          </a:prstGeom>
          <a:noFill/>
        </p:spPr>
        <p:txBody>
          <a:bodyPr wrap="square" rtlCol="0">
            <a:spAutoFit/>
          </a:bodyPr>
          <a:lstStyle/>
          <a:p>
            <a:pPr algn="ctr"/>
            <a:r>
              <a:rPr lang="en-US" b="1" dirty="0"/>
              <a:t>Se concateno Serie + Nfactura en un solo campo llamado Nfactura</a:t>
            </a:r>
          </a:p>
        </p:txBody>
      </p:sp>
    </p:spTree>
    <p:extLst>
      <p:ext uri="{BB962C8B-B14F-4D97-AF65-F5344CB8AC3E}">
        <p14:creationId xmlns:p14="http://schemas.microsoft.com/office/powerpoint/2010/main" val="1184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1434906" y="1415608"/>
            <a:ext cx="11085340" cy="461665"/>
          </a:xfrm>
          <a:prstGeom prst="rect">
            <a:avLst/>
          </a:prstGeom>
          <a:noFill/>
        </p:spPr>
        <p:txBody>
          <a:bodyPr wrap="square" rtlCol="0">
            <a:spAutoFit/>
          </a:bodyPr>
          <a:lstStyle/>
          <a:p>
            <a:pPr algn="ctr"/>
            <a:r>
              <a:rPr lang="en-US" sz="2400" b="1" dirty="0"/>
              <a:t>Identificar Operaciones Facturas_Detalle (operaciones depende de catálogos)</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8" name="Imagen 7">
            <a:extLst>
              <a:ext uri="{FF2B5EF4-FFF2-40B4-BE49-F238E27FC236}">
                <a16:creationId xmlns:a16="http://schemas.microsoft.com/office/drawing/2014/main" id="{F0CCBF41-1EF1-483F-BDE1-FBD0BB38CB36}"/>
              </a:ext>
            </a:extLst>
          </p:cNvPr>
          <p:cNvPicPr>
            <a:picLocks noChangeAspect="1"/>
          </p:cNvPicPr>
          <p:nvPr/>
        </p:nvPicPr>
        <p:blipFill rotWithShape="1">
          <a:blip r:embed="rId3"/>
          <a:srcRect l="59287"/>
          <a:stretch/>
        </p:blipFill>
        <p:spPr>
          <a:xfrm>
            <a:off x="41618" y="2379051"/>
            <a:ext cx="6612401" cy="4391025"/>
          </a:xfrm>
          <a:prstGeom prst="rect">
            <a:avLst/>
          </a:prstGeom>
        </p:spPr>
      </p:pic>
      <p:pic>
        <p:nvPicPr>
          <p:cNvPr id="11" name="Imagen 10">
            <a:extLst>
              <a:ext uri="{FF2B5EF4-FFF2-40B4-BE49-F238E27FC236}">
                <a16:creationId xmlns:a16="http://schemas.microsoft.com/office/drawing/2014/main" id="{57FA4CA4-D8BE-4FE7-8CA7-0E87BC70E543}"/>
              </a:ext>
            </a:extLst>
          </p:cNvPr>
          <p:cNvPicPr>
            <a:picLocks noChangeAspect="1"/>
          </p:cNvPicPr>
          <p:nvPr/>
        </p:nvPicPr>
        <p:blipFill rotWithShape="1">
          <a:blip r:embed="rId3"/>
          <a:srcRect l="5537" r="87940"/>
          <a:stretch/>
        </p:blipFill>
        <p:spPr>
          <a:xfrm>
            <a:off x="2152358" y="2379052"/>
            <a:ext cx="1463038" cy="4391025"/>
          </a:xfrm>
          <a:prstGeom prst="rect">
            <a:avLst/>
          </a:prstGeom>
        </p:spPr>
      </p:pic>
      <p:pic>
        <p:nvPicPr>
          <p:cNvPr id="9" name="Imagen 8">
            <a:extLst>
              <a:ext uri="{FF2B5EF4-FFF2-40B4-BE49-F238E27FC236}">
                <a16:creationId xmlns:a16="http://schemas.microsoft.com/office/drawing/2014/main" id="{76FEE93F-E3F4-4BD9-BD08-70F49D217B52}"/>
              </a:ext>
            </a:extLst>
          </p:cNvPr>
          <p:cNvPicPr>
            <a:picLocks noChangeAspect="1"/>
          </p:cNvPicPr>
          <p:nvPr/>
        </p:nvPicPr>
        <p:blipFill>
          <a:blip r:embed="rId4"/>
          <a:stretch>
            <a:fillRect/>
          </a:stretch>
        </p:blipFill>
        <p:spPr>
          <a:xfrm>
            <a:off x="7444264" y="2606988"/>
            <a:ext cx="3596420" cy="3257435"/>
          </a:xfrm>
          <a:prstGeom prst="rect">
            <a:avLst/>
          </a:prstGeom>
        </p:spPr>
      </p:pic>
      <p:sp>
        <p:nvSpPr>
          <p:cNvPr id="12" name="CuadroTexto 11">
            <a:extLst>
              <a:ext uri="{FF2B5EF4-FFF2-40B4-BE49-F238E27FC236}">
                <a16:creationId xmlns:a16="http://schemas.microsoft.com/office/drawing/2014/main" id="{4042E756-2A24-4A28-8E94-5617926B6F99}"/>
              </a:ext>
            </a:extLst>
          </p:cNvPr>
          <p:cNvSpPr txBox="1"/>
          <p:nvPr/>
        </p:nvSpPr>
        <p:spPr>
          <a:xfrm>
            <a:off x="5696027" y="1857593"/>
            <a:ext cx="6678853" cy="369332"/>
          </a:xfrm>
          <a:prstGeom prst="rect">
            <a:avLst/>
          </a:prstGeom>
          <a:noFill/>
        </p:spPr>
        <p:txBody>
          <a:bodyPr wrap="square" rtlCol="0">
            <a:spAutoFit/>
          </a:bodyPr>
          <a:lstStyle/>
          <a:p>
            <a:pPr algn="ctr"/>
            <a:r>
              <a:rPr lang="en-US" b="1" dirty="0"/>
              <a:t>Se concateno Serie + Nfactura en un solo campo llamado Nfactura</a:t>
            </a:r>
          </a:p>
        </p:txBody>
      </p:sp>
    </p:spTree>
    <p:extLst>
      <p:ext uri="{BB962C8B-B14F-4D97-AF65-F5344CB8AC3E}">
        <p14:creationId xmlns:p14="http://schemas.microsoft.com/office/powerpoint/2010/main" val="1813343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C72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BDADA1-5111-4522-AC86-DE4A4780CFC8}"/>
              </a:ext>
            </a:extLst>
          </p:cNvPr>
          <p:cNvSpPr>
            <a:spLocks noGrp="1"/>
          </p:cNvSpPr>
          <p:nvPr>
            <p:ph type="ctrTitle"/>
          </p:nvPr>
        </p:nvSpPr>
        <p:spPr>
          <a:xfrm>
            <a:off x="3254327" y="142067"/>
            <a:ext cx="6185095" cy="651165"/>
          </a:xfrm>
        </p:spPr>
        <p:txBody>
          <a:bodyPr>
            <a:normAutofit fontScale="90000"/>
          </a:bodyPr>
          <a:lstStyle/>
          <a:p>
            <a:r>
              <a:rPr lang="en-US" b="1" dirty="0">
                <a:latin typeface="Arial" panose="020B0604020202020204" pitchFamily="34" charset="0"/>
                <a:cs typeface="Arial" panose="020B0604020202020204" pitchFamily="34" charset="0"/>
              </a:rPr>
              <a:t>Power BI a Fondo</a:t>
            </a:r>
            <a:endParaRPr lang="es-ES" b="1" dirty="0">
              <a:latin typeface="Arial" panose="020B0604020202020204" pitchFamily="34" charset="0"/>
              <a:cs typeface="Arial" panose="020B0604020202020204" pitchFamily="34" charset="0"/>
            </a:endParaRPr>
          </a:p>
        </p:txBody>
      </p:sp>
      <p:pic>
        <p:nvPicPr>
          <p:cNvPr id="5" name="Picture 2" descr="Image result for power bi">
            <a:extLst>
              <a:ext uri="{FF2B5EF4-FFF2-40B4-BE49-F238E27FC236}">
                <a16:creationId xmlns:a16="http://schemas.microsoft.com/office/drawing/2014/main" id="{707E32F6-3B66-4303-B856-73CA3C1553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1" t="4054" r="71619" b="64033"/>
          <a:stretch/>
        </p:blipFill>
        <p:spPr bwMode="auto">
          <a:xfrm>
            <a:off x="965132" y="0"/>
            <a:ext cx="1388011" cy="9706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E2C712-0E43-41AC-9DDA-2942E7A0D503}"/>
              </a:ext>
            </a:extLst>
          </p:cNvPr>
          <p:cNvSpPr txBox="1"/>
          <p:nvPr/>
        </p:nvSpPr>
        <p:spPr>
          <a:xfrm>
            <a:off x="1434906" y="1415608"/>
            <a:ext cx="8932983" cy="461665"/>
          </a:xfrm>
          <a:prstGeom prst="rect">
            <a:avLst/>
          </a:prstGeom>
          <a:noFill/>
        </p:spPr>
        <p:txBody>
          <a:bodyPr wrap="square" rtlCol="0">
            <a:spAutoFit/>
          </a:bodyPr>
          <a:lstStyle/>
          <a:p>
            <a:pPr algn="ctr"/>
            <a:r>
              <a:rPr lang="en-US" sz="2400" b="1" dirty="0"/>
              <a:t>Modelamiento Completado</a:t>
            </a:r>
          </a:p>
        </p:txBody>
      </p:sp>
      <p:sp>
        <p:nvSpPr>
          <p:cNvPr id="7" name="CuadroTexto 6">
            <a:extLst>
              <a:ext uri="{FF2B5EF4-FFF2-40B4-BE49-F238E27FC236}">
                <a16:creationId xmlns:a16="http://schemas.microsoft.com/office/drawing/2014/main" id="{B61F15F5-6900-49E0-82BC-2BD14DB84091}"/>
              </a:ext>
            </a:extLst>
          </p:cNvPr>
          <p:cNvSpPr txBox="1"/>
          <p:nvPr/>
        </p:nvSpPr>
        <p:spPr>
          <a:xfrm>
            <a:off x="2353143" y="655727"/>
            <a:ext cx="7528230" cy="707886"/>
          </a:xfrm>
          <a:prstGeom prst="rect">
            <a:avLst/>
          </a:prstGeom>
          <a:noFill/>
        </p:spPr>
        <p:txBody>
          <a:bodyPr wrap="square" rtlCol="0">
            <a:spAutoFit/>
          </a:bodyPr>
          <a:lstStyle/>
          <a:p>
            <a:pPr algn="ctr"/>
            <a:r>
              <a:rPr lang="en-US" sz="4000" b="1" dirty="0"/>
              <a:t>Modelamiento de Datos</a:t>
            </a:r>
          </a:p>
        </p:txBody>
      </p:sp>
      <p:pic>
        <p:nvPicPr>
          <p:cNvPr id="3" name="Imagen 2">
            <a:extLst>
              <a:ext uri="{FF2B5EF4-FFF2-40B4-BE49-F238E27FC236}">
                <a16:creationId xmlns:a16="http://schemas.microsoft.com/office/drawing/2014/main" id="{21E136FB-7B44-49CA-A3F1-B4F3A68603F2}"/>
              </a:ext>
            </a:extLst>
          </p:cNvPr>
          <p:cNvPicPr>
            <a:picLocks noChangeAspect="1"/>
          </p:cNvPicPr>
          <p:nvPr/>
        </p:nvPicPr>
        <p:blipFill>
          <a:blip r:embed="rId3"/>
          <a:stretch>
            <a:fillRect/>
          </a:stretch>
        </p:blipFill>
        <p:spPr>
          <a:xfrm>
            <a:off x="2698515" y="2019340"/>
            <a:ext cx="6837485" cy="4257675"/>
          </a:xfrm>
          <a:prstGeom prst="rect">
            <a:avLst/>
          </a:prstGeom>
        </p:spPr>
      </p:pic>
    </p:spTree>
    <p:extLst>
      <p:ext uri="{BB962C8B-B14F-4D97-AF65-F5344CB8AC3E}">
        <p14:creationId xmlns:p14="http://schemas.microsoft.com/office/powerpoint/2010/main" val="4791302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11826</TotalTime>
  <Words>481</Words>
  <Application>Microsoft Office PowerPoint</Application>
  <PresentationFormat>Panorámica</PresentationFormat>
  <Paragraphs>52</Paragraphs>
  <Slides>12</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Power BI a Fondo</vt:lpstr>
      <vt:lpstr>Power BI a Fondo</vt:lpstr>
      <vt:lpstr>Power BI a Fondo</vt:lpstr>
      <vt:lpstr>Power BI a Fondo</vt:lpstr>
      <vt:lpstr>Power BI a Fondo</vt:lpstr>
      <vt:lpstr>Power BI a Fondo</vt:lpstr>
      <vt:lpstr>Power BI a Fondo</vt:lpstr>
      <vt:lpstr>Power BI a Fondo</vt:lpstr>
      <vt:lpstr>Power BI a Fondo</vt:lpstr>
      <vt:lpstr>Power BI a Fondo</vt:lpstr>
      <vt:lpstr>Power BI a Fondo</vt:lpstr>
      <vt:lpstr>Power BI a Fondo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a Fondo</dc:title>
  <dc:creator>Denis Enrique Guido Rodríguez</dc:creator>
  <cp:lastModifiedBy>Denis Enrique Guido Rodríguez</cp:lastModifiedBy>
  <cp:revision>57</cp:revision>
  <dcterms:created xsi:type="dcterms:W3CDTF">2019-01-29T17:20:32Z</dcterms:created>
  <dcterms:modified xsi:type="dcterms:W3CDTF">2019-02-07T21:59:47Z</dcterms:modified>
</cp:coreProperties>
</file>